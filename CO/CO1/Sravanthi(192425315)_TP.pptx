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6" r:id="rId3"/>
    <p:sldId id="267" r:id="rId5"/>
    <p:sldId id="291" r:id="rId6"/>
    <p:sldId id="299" r:id="rId7"/>
    <p:sldId id="300" r:id="rId8"/>
    <p:sldId id="301" r:id="rId9"/>
    <p:sldId id="302" r:id="rId10"/>
    <p:sldId id="304" r:id="rId11"/>
    <p:sldId id="305" r:id="rId12"/>
    <p:sldId id="303" r:id="rId13"/>
    <p:sldId id="30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F705D-7CD0-447C-991B-E641C96EA9AA}"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3F6C89-D666-4C01-BF70-8DD520025F52}"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483006-27E9-41AE-8A12-E6C67A5C8134}"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B493788-186C-4A44-AB93-81C4A48E1194}"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68362A6-CFE4-4DCD-9C64-C7E0AF5604AE}"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BEAA695-44F8-4575-B742-864C698C3C0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D08D9BA4-17AB-4A85-BAD3-BFDD3BDEE30C}"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5C397BD-EC54-4C8F-8D6F-7CA3F0813E4D}"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D34721E-8096-47E6-B981-9641402A8357}"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2D181-43EC-4752-98D3-5B13EAE65330}"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DF91C2C-C157-4A92-8E61-86534B8A4C1D}"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007ABDB-7323-47E2-81C0-D3F830E05BD6}"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1DA565B-F616-4C7C-870A-C684BED1205F}"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9EE9538-7EFF-46BA-8320-779ECB5A7714}"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lgn="ctr">
              <a:defRPr sz="3200">
                <a:solidFill>
                  <a:schemeClr val="tx1">
                    <a:lumMod val="85000"/>
                    <a:lumOff val="15000"/>
                  </a:schemeClr>
                </a:solidFill>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7F3960-0B51-4B6C-AEC2-680083FBA39A}"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201F5-6537-4A0A-8CB8-60BD59C4BF2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10896" y="4294874"/>
            <a:ext cx="3588446" cy="1511935"/>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Supervis</a:t>
            </a:r>
            <a:r>
              <a:rPr lang="en-IN" altLang="en-US" sz="2000" b="1" dirty="0">
                <a:solidFill>
                  <a:schemeClr val="tx1"/>
                </a:solidFill>
                <a:latin typeface="Times New Roman" panose="02020603050405020304" pitchFamily="18" charset="0"/>
                <a:cs typeface="Times New Roman" panose="02020603050405020304" pitchFamily="18" charset="0"/>
              </a:rPr>
              <a:t>ed By</a:t>
            </a:r>
            <a:r>
              <a:rPr lang="en-US" sz="2000" b="1" dirty="0">
                <a:solidFill>
                  <a:schemeClr val="tx1"/>
                </a:solidFill>
                <a:latin typeface="Times New Roman" panose="02020603050405020304" pitchFamily="18" charset="0"/>
                <a:cs typeface="Times New Roman" panose="02020603050405020304" pitchFamily="18" charset="0"/>
              </a:rPr>
              <a:t>:                                                                                     </a:t>
            </a:r>
            <a:endParaRPr lang="en-US" sz="2000" b="1" dirty="0">
              <a:solidFill>
                <a:schemeClr val="tx1"/>
              </a:solidFill>
              <a:latin typeface="Times New Roman" panose="02020603050405020304" pitchFamily="18" charset="0"/>
              <a:cs typeface="Times New Roman" panose="02020603050405020304" pitchFamily="18" charset="0"/>
            </a:endParaRPr>
          </a:p>
          <a:p>
            <a:pPr>
              <a:lnSpc>
                <a:spcPts val="4340"/>
              </a:lnSpc>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Dr. Anbazhagan K</a:t>
            </a:r>
            <a:endPar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ts val="4340"/>
              </a:lnSpc>
            </a:pPr>
            <a:r>
              <a:rPr lang="en-IN" alt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Professor</a:t>
            </a:r>
            <a:endParaRPr lang="en-IN" alt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8" name="TextBox 7"/>
          <p:cNvSpPr txBox="1"/>
          <p:nvPr/>
        </p:nvSpPr>
        <p:spPr>
          <a:xfrm>
            <a:off x="7993380" y="4128135"/>
            <a:ext cx="3642360" cy="1797050"/>
          </a:xfrm>
          <a:prstGeom prst="rect">
            <a:avLst/>
          </a:prstGeom>
          <a:noFill/>
        </p:spPr>
        <p:txBody>
          <a:bodyPr wrap="square">
            <a:noAutofit/>
          </a:bodyPr>
          <a:lstStyle/>
          <a:p>
            <a:pPr>
              <a:lnSpc>
                <a:spcPct val="160000"/>
              </a:lnSpc>
            </a:pPr>
            <a:r>
              <a:rPr lang="en-IN" altLang="en-US" sz="2000" b="1" dirty="0">
                <a:solidFill>
                  <a:schemeClr val="tx1"/>
                </a:solidFill>
                <a:latin typeface="Times New Roman" panose="02020603050405020304" pitchFamily="18" charset="0"/>
                <a:cs typeface="Times New Roman" panose="02020603050405020304" pitchFamily="18" charset="0"/>
              </a:rPr>
              <a:t>Presented By:</a:t>
            </a:r>
            <a:r>
              <a:rPr lang="en-US" sz="2000" b="1" dirty="0">
                <a:solidFill>
                  <a:schemeClr val="tx1"/>
                </a:solidFill>
                <a:latin typeface="Times New Roman" panose="02020603050405020304" pitchFamily="18" charset="0"/>
                <a:cs typeface="Times New Roman" panose="02020603050405020304" pitchFamily="18" charset="0"/>
              </a:rPr>
              <a:t>                                                                                           </a:t>
            </a:r>
            <a:endParaRPr lang="en-US" sz="2000" b="1" dirty="0">
              <a:solidFill>
                <a:schemeClr val="tx1"/>
              </a:solidFill>
              <a:latin typeface="Times New Roman" panose="02020603050405020304" pitchFamily="18" charset="0"/>
              <a:cs typeface="Times New Roman" panose="02020603050405020304" pitchFamily="18" charset="0"/>
            </a:endParaRPr>
          </a:p>
          <a:p>
            <a:pPr>
              <a:lnSpc>
                <a:spcPct val="160000"/>
              </a:lnSpc>
            </a:pPr>
            <a:r>
              <a:rPr lang="en-US" sz="2000" dirty="0">
                <a:solidFill>
                  <a:schemeClr val="tx1"/>
                </a:solidFill>
                <a:latin typeface="Times New Roman" panose="02020603050405020304" pitchFamily="18" charset="0"/>
                <a:cs typeface="Times New Roman" panose="02020603050405020304" pitchFamily="18" charset="0"/>
              </a:rPr>
              <a:t>S</a:t>
            </a:r>
            <a:r>
              <a:rPr lang="en-IN" altLang="en-US" sz="2000" dirty="0">
                <a:solidFill>
                  <a:schemeClr val="tx1"/>
                </a:solidFill>
                <a:latin typeface="Times New Roman" panose="02020603050405020304" pitchFamily="18" charset="0"/>
                <a:cs typeface="Times New Roman" panose="02020603050405020304" pitchFamily="18" charset="0"/>
              </a:rPr>
              <a:t>ravanthi.D</a:t>
            </a:r>
            <a:endParaRPr lang="en-IN" altLang="en-US" sz="2000" dirty="0">
              <a:solidFill>
                <a:schemeClr val="tx1"/>
              </a:solidFill>
              <a:latin typeface="Times New Roman" panose="02020603050405020304" pitchFamily="18" charset="0"/>
              <a:cs typeface="Times New Roman" panose="02020603050405020304" pitchFamily="18" charset="0"/>
            </a:endParaRPr>
          </a:p>
          <a:p>
            <a:pPr>
              <a:lnSpc>
                <a:spcPct val="160000"/>
              </a:lnSpc>
            </a:pPr>
            <a:r>
              <a:rPr lang="en-US" sz="2000" dirty="0">
                <a:solidFill>
                  <a:schemeClr val="tx1"/>
                </a:solidFill>
                <a:latin typeface="Times New Roman" panose="02020603050405020304" pitchFamily="18" charset="0"/>
                <a:cs typeface="Times New Roman" panose="02020603050405020304" pitchFamily="18" charset="0"/>
              </a:rPr>
              <a:t>(19242531</a:t>
            </a:r>
            <a:r>
              <a:rPr lang="en-IN" altLang="en-US" sz="2000" dirty="0">
                <a:solidFill>
                  <a:schemeClr val="tx1"/>
                </a:solidFill>
                <a:latin typeface="Times New Roman" panose="02020603050405020304" pitchFamily="18" charset="0"/>
                <a:cs typeface="Times New Roman" panose="02020603050405020304" pitchFamily="18" charset="0"/>
              </a:rPr>
              <a:t>5</a:t>
            </a: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60000"/>
              </a:lnSpc>
            </a:pP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3"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4"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5" name="TextBox 4"/>
          <p:cNvSpPr txBox="1"/>
          <p:nvPr/>
        </p:nvSpPr>
        <p:spPr>
          <a:xfrm>
            <a:off x="888365" y="1809115"/>
            <a:ext cx="10648315" cy="2033270"/>
          </a:xfrm>
          <a:prstGeom prst="rect">
            <a:avLst/>
          </a:prstGeom>
          <a:noFill/>
        </p:spPr>
        <p:txBody>
          <a:bodyPr wrap="square">
            <a:noAutofit/>
          </a:bodyPr>
          <a:lstStyle/>
          <a:p>
            <a:pPr algn="ctr"/>
            <a:r>
              <a:rPr lang="en-US" altLang="en-GB" sz="4800" b="1" dirty="0">
                <a:latin typeface="Times New Roman" panose="02020603050405020304" pitchFamily="18" charset="0"/>
                <a:cs typeface="Times New Roman" panose="02020603050405020304" pitchFamily="18" charset="0"/>
              </a:rPr>
              <a:t>Finite-State Morphological Parsing Techniques</a:t>
            </a:r>
            <a:endParaRPr lang="en-US" altLang="en-GB" sz="4800" b="1" dirty="0">
              <a:latin typeface="Times New Roman" panose="02020603050405020304" pitchFamily="18" charset="0"/>
              <a:cs typeface="Times New Roman" panose="02020603050405020304" pitchFamily="18" charset="0"/>
            </a:endParaRPr>
          </a:p>
          <a:p>
            <a:pPr algn="ctr"/>
            <a:r>
              <a:rPr lang="en-IN" sz="2200" b="1" dirty="0">
                <a:latin typeface="Times New Roman" panose="02020603050405020304" pitchFamily="18" charset="0"/>
                <a:cs typeface="Times New Roman" panose="02020603050405020304" pitchFamily="18" charset="0"/>
              </a:rPr>
              <a:t>DSA0305 – Natural Language Processing</a:t>
            </a:r>
            <a:endParaRPr lang="en-IN" sz="32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
        <p:nvSpPr>
          <p:cNvPr id="7" name="Text Box 6"/>
          <p:cNvSpPr txBox="1"/>
          <p:nvPr/>
        </p:nvSpPr>
        <p:spPr>
          <a:xfrm>
            <a:off x="4064000" y="180340"/>
            <a:ext cx="4064000" cy="768350"/>
          </a:xfrm>
          <a:prstGeom prst="rect">
            <a:avLst/>
          </a:prstGeom>
          <a:noFill/>
        </p:spPr>
        <p:txBody>
          <a:bodyPr wrap="square" rtlCol="0">
            <a:spAutoFit/>
          </a:bodyPr>
          <a:p>
            <a:r>
              <a:rPr lang="en-IN" altLang="en-US" sz="4000">
                <a:latin typeface="Times New Roman" panose="02020603050405020304" pitchFamily="18" charset="0"/>
                <a:cs typeface="Times New Roman" panose="02020603050405020304" pitchFamily="18" charset="0"/>
              </a:rPr>
              <a:t>   </a:t>
            </a:r>
            <a:r>
              <a:rPr lang="en-US" altLang="en-GB" sz="4400">
                <a:latin typeface="Times New Roman" panose="02020603050405020304" pitchFamily="18" charset="0"/>
                <a:cs typeface="Times New Roman" panose="02020603050405020304" pitchFamily="18" charset="0"/>
              </a:rPr>
              <a:t>Introduction</a:t>
            </a:r>
            <a:endParaRPr lang="en-GB" altLang="en-US" sz="4400">
              <a:latin typeface="Times New Roman" panose="02020603050405020304" pitchFamily="18" charset="0"/>
              <a:cs typeface="Times New Roman" panose="02020603050405020304" pitchFamily="18" charset="0"/>
            </a:endParaRPr>
          </a:p>
        </p:txBody>
      </p:sp>
      <p:sp>
        <p:nvSpPr>
          <p:cNvPr id="5" name="Text Box 4"/>
          <p:cNvSpPr txBox="1"/>
          <p:nvPr/>
        </p:nvSpPr>
        <p:spPr>
          <a:xfrm>
            <a:off x="2156460" y="1022985"/>
            <a:ext cx="8415655" cy="706755"/>
          </a:xfrm>
          <a:prstGeom prst="rect">
            <a:avLst/>
          </a:prstGeom>
        </p:spPr>
        <p:txBody>
          <a:bodyPr wrap="square">
            <a:spAutoFit/>
          </a:bodyPr>
          <a:p>
            <a:r>
              <a:rPr lang="en-IN" sz="4000">
                <a:latin typeface="Times New Roman" panose="02020603050405020304" pitchFamily="18" charset="0"/>
                <a:cs typeface="Times New Roman" panose="02020603050405020304" pitchFamily="18" charset="0"/>
              </a:rPr>
              <a:t>   </a:t>
            </a:r>
            <a:r>
              <a:rPr sz="4000">
                <a:latin typeface="Times New Roman" panose="02020603050405020304" pitchFamily="18" charset="0"/>
                <a:cs typeface="Times New Roman" panose="02020603050405020304" pitchFamily="18" charset="0"/>
              </a:rPr>
              <a:t>What is Morphological Parsing?</a:t>
            </a:r>
            <a:endParaRPr sz="4000">
              <a:latin typeface="Times New Roman" panose="02020603050405020304" pitchFamily="18" charset="0"/>
              <a:cs typeface="Times New Roman" panose="02020603050405020304" pitchFamily="18" charset="0"/>
            </a:endParaRPr>
          </a:p>
        </p:txBody>
      </p:sp>
      <p:sp>
        <p:nvSpPr>
          <p:cNvPr id="8" name="Text Box 7"/>
          <p:cNvSpPr txBox="1"/>
          <p:nvPr/>
        </p:nvSpPr>
        <p:spPr>
          <a:xfrm>
            <a:off x="861060" y="1804035"/>
            <a:ext cx="5234940" cy="4815840"/>
          </a:xfrm>
          <a:prstGeom prst="rect">
            <a:avLst/>
          </a:prstGeom>
        </p:spPr>
        <p:txBody>
          <a:bodyPr wrap="square">
            <a:noAutofit/>
          </a:bodyPr>
          <a:p>
            <a:pPr marL="342900" indent="-342900">
              <a:lnSpc>
                <a:spcPct val="14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Morphological parsing is the process of analyzing the internal structure of words by breaking them into smaller meaningful units called morphemes.</a:t>
            </a:r>
            <a:endParaRPr sz="2000">
              <a:latin typeface="Times New Roman" panose="02020603050405020304" pitchFamily="18" charset="0"/>
              <a:cs typeface="Times New Roman" panose="02020603050405020304" pitchFamily="18" charset="0"/>
            </a:endParaRPr>
          </a:p>
          <a:p>
            <a:pPr marL="342900" indent="-342900">
              <a:lnSpc>
                <a:spcPct val="14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A morpheme is the smallest unit of meaning in a language.</a:t>
            </a:r>
            <a:endParaRPr sz="2000">
              <a:latin typeface="Times New Roman" panose="02020603050405020304" pitchFamily="18" charset="0"/>
              <a:cs typeface="Times New Roman" panose="02020603050405020304" pitchFamily="18" charset="0"/>
            </a:endParaRPr>
          </a:p>
          <a:p>
            <a:pPr marL="342900" indent="-342900">
              <a:lnSpc>
                <a:spcPct val="140000"/>
              </a:lnSpc>
              <a:buFont typeface="Wingdings" panose="05000000000000000000" charset="0"/>
              <a:buChar char="v"/>
            </a:pPr>
            <a:r>
              <a:rPr sz="2000">
                <a:latin typeface="Times New Roman" panose="02020603050405020304" pitchFamily="18" charset="0"/>
                <a:cs typeface="Times New Roman" panose="02020603050405020304" pitchFamily="18" charset="0"/>
              </a:rPr>
              <a:t>Morphological parsing helps computers understand how words are formed, making it an essential part of Natural Language Processing (NLP</a:t>
            </a:r>
            <a:r>
              <a:rPr sz="2400">
                <a:latin typeface="Times New Roman" panose="02020603050405020304" pitchFamily="18" charset="0"/>
                <a:cs typeface="Times New Roman" panose="02020603050405020304" pitchFamily="18" charset="0"/>
              </a:rPr>
              <a:t>).</a:t>
            </a:r>
            <a:endParaRPr sz="2400">
              <a:latin typeface="Times New Roman" panose="02020603050405020304" pitchFamily="18" charset="0"/>
              <a:cs typeface="Times New Roman" panose="02020603050405020304" pitchFamily="18" charset="0"/>
            </a:endParaRPr>
          </a:p>
        </p:txBody>
      </p:sp>
      <p:sp>
        <p:nvSpPr>
          <p:cNvPr id="9" name="Text Box 8"/>
          <p:cNvSpPr txBox="1"/>
          <p:nvPr/>
        </p:nvSpPr>
        <p:spPr>
          <a:xfrm>
            <a:off x="7081520" y="2816860"/>
            <a:ext cx="4418965" cy="2245360"/>
          </a:xfrm>
          <a:prstGeom prst="rect">
            <a:avLst/>
          </a:prstGeom>
          <a:noFill/>
        </p:spPr>
        <p:txBody>
          <a:bodyPr wrap="square" rtlCol="0" anchor="t">
            <a:spAutoFit/>
          </a:bodyPr>
          <a:p>
            <a:pPr>
              <a:lnSpc>
                <a:spcPct val="140000"/>
              </a:lnSpc>
            </a:pPr>
            <a:r>
              <a:rPr sz="2000">
                <a:latin typeface="Times New Roman" panose="02020603050405020304" pitchFamily="18" charset="0"/>
                <a:cs typeface="Times New Roman" panose="02020603050405020304" pitchFamily="18" charset="0"/>
                <a:sym typeface="+mn-ea"/>
              </a:rPr>
              <a:t>For example:</a:t>
            </a:r>
            <a:endParaRPr sz="2000">
              <a:latin typeface="Times New Roman" panose="02020603050405020304" pitchFamily="18" charset="0"/>
              <a:cs typeface="Times New Roman" panose="02020603050405020304" pitchFamily="18" charset="0"/>
            </a:endParaRPr>
          </a:p>
          <a:p>
            <a:pPr>
              <a:lnSpc>
                <a:spcPct val="140000"/>
              </a:lnSpc>
            </a:pPr>
            <a:r>
              <a:rPr sz="2000">
                <a:latin typeface="Times New Roman" panose="02020603050405020304" pitchFamily="18" charset="0"/>
                <a:cs typeface="Times New Roman" panose="02020603050405020304" pitchFamily="18" charset="0"/>
                <a:sym typeface="+mn-ea"/>
              </a:rPr>
              <a:t>Unhappiness = un + happy + ness</a:t>
            </a:r>
            <a:endParaRPr sz="2000">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un → Prefix </a:t>
            </a:r>
            <a:endParaRPr sz="2000">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happy → Root word </a:t>
            </a:r>
            <a:endParaRPr sz="2000">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ness → Suffix </a:t>
            </a:r>
            <a:endParaRPr lang="en-GB"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
        <p:nvSpPr>
          <p:cNvPr id="10" name="Text Box 9"/>
          <p:cNvSpPr txBox="1"/>
          <p:nvPr/>
        </p:nvSpPr>
        <p:spPr>
          <a:xfrm>
            <a:off x="3530600" y="498158"/>
            <a:ext cx="5080000" cy="706755"/>
          </a:xfrm>
          <a:prstGeom prst="rect">
            <a:avLst/>
          </a:prstGeom>
        </p:spPr>
        <p:txBody>
          <a:bodyPr>
            <a:spAutoFit/>
          </a:bodyPr>
          <a:p>
            <a:r>
              <a:rPr sz="4000" b="1">
                <a:latin typeface="Times New Roman" panose="02020603050405020304" pitchFamily="18" charset="0"/>
                <a:cs typeface="Times New Roman" panose="02020603050405020304" pitchFamily="18" charset="0"/>
              </a:rPr>
              <a:t>Morphology in NLP</a:t>
            </a:r>
            <a:endParaRPr sz="4000" b="1">
              <a:latin typeface="Times New Roman" panose="02020603050405020304" pitchFamily="18" charset="0"/>
              <a:cs typeface="Times New Roman" panose="02020603050405020304" pitchFamily="18" charset="0"/>
            </a:endParaRPr>
          </a:p>
        </p:txBody>
      </p:sp>
      <p:sp>
        <p:nvSpPr>
          <p:cNvPr id="11" name="Text Box 10"/>
          <p:cNvSpPr txBox="1"/>
          <p:nvPr/>
        </p:nvSpPr>
        <p:spPr>
          <a:xfrm>
            <a:off x="546100" y="1719580"/>
            <a:ext cx="6729095" cy="4413885"/>
          </a:xfrm>
          <a:prstGeom prst="rect">
            <a:avLst/>
          </a:prstGeom>
        </p:spPr>
        <p:txBody>
          <a:bodyPr>
            <a:noAutofit/>
          </a:bodyPr>
          <a:p>
            <a:pPr>
              <a:lnSpc>
                <a:spcPct val="130000"/>
              </a:lnSpc>
              <a:spcAft>
                <a:spcPct val="60000"/>
              </a:spcAft>
            </a:pPr>
            <a:r>
              <a:rPr sz="2000" b="1">
                <a:latin typeface="Times New Roman" panose="02020603050405020304" pitchFamily="18" charset="0"/>
                <a:cs typeface="Times New Roman" panose="02020603050405020304" pitchFamily="18" charset="0"/>
              </a:rPr>
              <a:t>Why is Morphology Important?</a:t>
            </a:r>
            <a:endParaRPr sz="2000" b="1">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Morphology improves language understanding by identifying the structure and meaning of words.</a:t>
            </a:r>
            <a:endParaRPr sz="2000">
              <a:latin typeface="Times New Roman" panose="02020603050405020304" pitchFamily="18" charset="0"/>
              <a:cs typeface="Times New Roman" panose="02020603050405020304" pitchFamily="18" charset="0"/>
            </a:endParaRPr>
          </a:p>
          <a:p>
            <a:pPr>
              <a:lnSpc>
                <a:spcPct val="130000"/>
              </a:lnSpc>
              <a:spcAft>
                <a:spcPct val="60000"/>
              </a:spcAft>
            </a:pPr>
            <a:r>
              <a:rPr sz="2000" b="1">
                <a:latin typeface="Times New Roman" panose="02020603050405020304" pitchFamily="18" charset="0"/>
                <a:cs typeface="Times New Roman" panose="02020603050405020304" pitchFamily="18" charset="0"/>
              </a:rPr>
              <a:t>It is used in:</a:t>
            </a:r>
            <a:endParaRPr sz="2000" b="1">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Machine Translation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Chatbots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Spell Checking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Speech Recognition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Text Summarization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Search Engines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Sentiment Analysis </a:t>
            </a:r>
            <a:endParaRPr sz="2000">
              <a:latin typeface="Times New Roman" panose="02020603050405020304" pitchFamily="18" charset="0"/>
              <a:cs typeface="Times New Roman" panose="02020603050405020304" pitchFamily="18" charset="0"/>
            </a:endParaRPr>
          </a:p>
          <a:p>
            <a:pPr>
              <a:lnSpc>
                <a:spcPct val="120000"/>
              </a:lnSpc>
              <a:spcAft>
                <a:spcPct val="60000"/>
              </a:spcAft>
            </a:pPr>
            <a:endParaRPr sz="2000">
              <a:latin typeface="Times New Roman" panose="02020603050405020304" pitchFamily="18" charset="0"/>
              <a:cs typeface="Times New Roman" panose="02020603050405020304" pitchFamily="18" charset="0"/>
            </a:endParaRPr>
          </a:p>
        </p:txBody>
      </p:sp>
      <p:sp>
        <p:nvSpPr>
          <p:cNvPr id="12" name="Text Box 11"/>
          <p:cNvSpPr txBox="1"/>
          <p:nvPr/>
        </p:nvSpPr>
        <p:spPr>
          <a:xfrm>
            <a:off x="7677150" y="2129155"/>
            <a:ext cx="3809365" cy="3373120"/>
          </a:xfrm>
          <a:prstGeom prst="rect">
            <a:avLst/>
          </a:prstGeom>
          <a:noFill/>
        </p:spPr>
        <p:txBody>
          <a:bodyPr wrap="square" rtlCol="0" anchor="t">
            <a:spAutoFit/>
          </a:bodyPr>
          <a:p>
            <a:pPr>
              <a:spcAft>
                <a:spcPct val="60000"/>
              </a:spcAft>
            </a:pPr>
            <a:r>
              <a:rPr sz="2000" b="1">
                <a:latin typeface="Times New Roman" panose="02020603050405020304" pitchFamily="18" charset="0"/>
                <a:cs typeface="Times New Roman" panose="02020603050405020304" pitchFamily="18" charset="0"/>
                <a:sym typeface="+mn-ea"/>
              </a:rPr>
              <a:t>Example</a:t>
            </a:r>
            <a:endParaRPr sz="2000" b="1">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Playing</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Play + ing</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Verb + Present Continuous</a:t>
            </a:r>
            <a:endParaRPr sz="2000">
              <a:latin typeface="Times New Roman" panose="02020603050405020304" pitchFamily="18" charset="0"/>
              <a:cs typeface="Times New Roman" panose="02020603050405020304" pitchFamily="18" charset="0"/>
              <a:sym typeface="+mn-ea"/>
            </a:endParaRPr>
          </a:p>
          <a:p>
            <a:endParaRPr sz="200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sz="2000">
                <a:latin typeface="Times New Roman" panose="02020603050405020304" pitchFamily="18" charset="0"/>
                <a:cs typeface="Times New Roman" panose="02020603050405020304" pitchFamily="18" charset="0"/>
                <a:sym typeface="+mn-ea"/>
              </a:rPr>
              <a:t>This allows NLP systems to recognize different forms of the same word</a:t>
            </a:r>
            <a:endParaRPr lang="en-GB" altLang="en-US" sz="2000">
              <a:latin typeface="Times New Roman" panose="02020603050405020304" pitchFamily="18" charset="0"/>
              <a:cs typeface="Times New Roman" panose="02020603050405020304" pitchFamily="18" charset="0"/>
              <a:sym typeface="+mn-ea"/>
            </a:endParaRPr>
          </a:p>
        </p:txBody>
      </p:sp>
      <p:pic>
        <p:nvPicPr>
          <p:cNvPr id="13" name="Picture 12"/>
          <p:cNvPicPr>
            <a:picLocks noChangeAspect="1"/>
          </p:cNvPicPr>
          <p:nvPr/>
        </p:nvPicPr>
        <p:blipFill>
          <a:blip r:embed="rId3"/>
          <a:stretch>
            <a:fillRect/>
          </a:stretch>
        </p:blipFill>
        <p:spPr>
          <a:xfrm>
            <a:off x="4506595" y="3851275"/>
            <a:ext cx="2386330" cy="2122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
        <p:nvSpPr>
          <p:cNvPr id="3" name="Text Box 2"/>
          <p:cNvSpPr txBox="1"/>
          <p:nvPr/>
        </p:nvSpPr>
        <p:spPr>
          <a:xfrm>
            <a:off x="3363595" y="498158"/>
            <a:ext cx="5080000" cy="706755"/>
          </a:xfrm>
          <a:prstGeom prst="rect">
            <a:avLst/>
          </a:prstGeom>
        </p:spPr>
        <p:txBody>
          <a:bodyPr>
            <a:spAutoFit/>
          </a:bodyPr>
          <a:p>
            <a:r>
              <a:rPr lang="en-IN" sz="4000">
                <a:latin typeface="Times New Roman" panose="02020603050405020304" pitchFamily="18" charset="0"/>
                <a:cs typeface="Times New Roman" panose="02020603050405020304" pitchFamily="18" charset="0"/>
              </a:rPr>
              <a:t>  </a:t>
            </a:r>
            <a:r>
              <a:rPr sz="4000">
                <a:latin typeface="Times New Roman" panose="02020603050405020304" pitchFamily="18" charset="0"/>
                <a:cs typeface="Times New Roman" panose="02020603050405020304" pitchFamily="18" charset="0"/>
              </a:rPr>
              <a:t>Finite-State Machines</a:t>
            </a:r>
            <a:endParaRPr sz="4000">
              <a:latin typeface="Times New Roman" panose="02020603050405020304" pitchFamily="18" charset="0"/>
              <a:cs typeface="Times New Roman" panose="02020603050405020304" pitchFamily="18" charset="0"/>
            </a:endParaRPr>
          </a:p>
        </p:txBody>
      </p:sp>
      <p:sp>
        <p:nvSpPr>
          <p:cNvPr id="5" name="Text Box 4"/>
          <p:cNvSpPr txBox="1"/>
          <p:nvPr/>
        </p:nvSpPr>
        <p:spPr>
          <a:xfrm>
            <a:off x="676275" y="2012315"/>
            <a:ext cx="5963285" cy="4561840"/>
          </a:xfrm>
          <a:prstGeom prst="rect">
            <a:avLst/>
          </a:prstGeom>
        </p:spPr>
        <p:txBody>
          <a:bodyPr wrap="square">
            <a:spAutoFit/>
          </a:bodyPr>
          <a:p>
            <a:pPr>
              <a:lnSpc>
                <a:spcPct val="120000"/>
              </a:lnSpc>
              <a:spcAft>
                <a:spcPct val="60000"/>
              </a:spcAft>
            </a:pPr>
            <a:r>
              <a:rPr sz="2000" b="1">
                <a:latin typeface="Times New Roman" panose="02020603050405020304" pitchFamily="18" charset="0"/>
                <a:cs typeface="Times New Roman" panose="02020603050405020304" pitchFamily="18" charset="0"/>
              </a:rPr>
              <a:t>What is a Finite-State Machine (FSM)?</a:t>
            </a:r>
            <a:endParaRPr sz="2000" b="1">
              <a:latin typeface="Times New Roman" panose="02020603050405020304" pitchFamily="18" charset="0"/>
              <a:cs typeface="Times New Roman" panose="02020603050405020304" pitchFamily="18" charset="0"/>
            </a:endParaRPr>
          </a:p>
          <a:p>
            <a:pPr>
              <a:lnSpc>
                <a:spcPct val="120000"/>
              </a:lnSpc>
            </a:pPr>
            <a:r>
              <a:rPr sz="2000">
                <a:latin typeface="Times New Roman" panose="02020603050405020304" pitchFamily="18" charset="0"/>
                <a:cs typeface="Times New Roman" panose="02020603050405020304" pitchFamily="18" charset="0"/>
              </a:rPr>
              <a:t>A Finite-State Machine is a mathematical model used to process strings by moving through a finite number of states based on input symbols.</a:t>
            </a:r>
            <a:endParaRPr sz="2000">
              <a:latin typeface="Times New Roman" panose="02020603050405020304" pitchFamily="18" charset="0"/>
              <a:cs typeface="Times New Roman" panose="02020603050405020304" pitchFamily="18" charset="0"/>
            </a:endParaRPr>
          </a:p>
          <a:p>
            <a:pPr>
              <a:lnSpc>
                <a:spcPct val="120000"/>
              </a:lnSpc>
              <a:spcAft>
                <a:spcPct val="60000"/>
              </a:spcAft>
            </a:pPr>
            <a:r>
              <a:rPr sz="2000" b="1">
                <a:latin typeface="Times New Roman" panose="02020603050405020304" pitchFamily="18" charset="0"/>
                <a:cs typeface="Times New Roman" panose="02020603050405020304" pitchFamily="18" charset="0"/>
              </a:rPr>
              <a:t>Components</a:t>
            </a:r>
            <a:endParaRPr sz="2000" b="1">
              <a:latin typeface="Times New Roman" panose="02020603050405020304" pitchFamily="18" charset="0"/>
              <a:cs typeface="Times New Roman" panose="02020603050405020304" pitchFamily="18" charset="0"/>
            </a:endParaRPr>
          </a:p>
          <a:p>
            <a:pPr>
              <a:lnSpc>
                <a:spcPct val="120000"/>
              </a:lnSpc>
              <a:buFont typeface="Arial" panose="020B0604020202020204"/>
              <a:buChar char="•"/>
            </a:pPr>
            <a:r>
              <a:rPr sz="2000">
                <a:latin typeface="Times New Roman" panose="02020603050405020304" pitchFamily="18" charset="0"/>
                <a:cs typeface="Times New Roman" panose="02020603050405020304" pitchFamily="18" charset="0"/>
              </a:rPr>
              <a:t> States </a:t>
            </a:r>
            <a:endParaRPr sz="2000">
              <a:latin typeface="Times New Roman" panose="02020603050405020304" pitchFamily="18" charset="0"/>
              <a:cs typeface="Times New Roman" panose="02020603050405020304" pitchFamily="18" charset="0"/>
            </a:endParaRPr>
          </a:p>
          <a:p>
            <a:pPr>
              <a:lnSpc>
                <a:spcPct val="120000"/>
              </a:lnSpc>
              <a:buFont typeface="Arial" panose="020B0604020202020204"/>
              <a:buChar char="•"/>
            </a:pPr>
            <a:r>
              <a:rPr sz="2000">
                <a:latin typeface="Times New Roman" panose="02020603050405020304" pitchFamily="18" charset="0"/>
                <a:cs typeface="Times New Roman" panose="02020603050405020304" pitchFamily="18" charset="0"/>
              </a:rPr>
              <a:t> Input symbols </a:t>
            </a:r>
            <a:endParaRPr sz="2000">
              <a:latin typeface="Times New Roman" panose="02020603050405020304" pitchFamily="18" charset="0"/>
              <a:cs typeface="Times New Roman" panose="02020603050405020304" pitchFamily="18" charset="0"/>
            </a:endParaRPr>
          </a:p>
          <a:p>
            <a:pPr>
              <a:lnSpc>
                <a:spcPct val="120000"/>
              </a:lnSpc>
              <a:buFont typeface="Arial" panose="020B0604020202020204"/>
              <a:buChar char="•"/>
            </a:pPr>
            <a:r>
              <a:rPr sz="2000">
                <a:latin typeface="Times New Roman" panose="02020603050405020304" pitchFamily="18" charset="0"/>
                <a:cs typeface="Times New Roman" panose="02020603050405020304" pitchFamily="18" charset="0"/>
              </a:rPr>
              <a:t> Transition function </a:t>
            </a:r>
            <a:endParaRPr sz="2000">
              <a:latin typeface="Times New Roman" panose="02020603050405020304" pitchFamily="18" charset="0"/>
              <a:cs typeface="Times New Roman" panose="02020603050405020304" pitchFamily="18" charset="0"/>
            </a:endParaRPr>
          </a:p>
          <a:p>
            <a:pPr>
              <a:lnSpc>
                <a:spcPct val="120000"/>
              </a:lnSpc>
              <a:buFont typeface="Arial" panose="020B0604020202020204"/>
              <a:buChar char="•"/>
            </a:pPr>
            <a:r>
              <a:rPr sz="2000">
                <a:latin typeface="Times New Roman" panose="02020603050405020304" pitchFamily="18" charset="0"/>
                <a:cs typeface="Times New Roman" panose="02020603050405020304" pitchFamily="18" charset="0"/>
              </a:rPr>
              <a:t> Start state </a:t>
            </a:r>
            <a:endParaRPr sz="2000">
              <a:latin typeface="Times New Roman" panose="02020603050405020304" pitchFamily="18" charset="0"/>
              <a:cs typeface="Times New Roman" panose="02020603050405020304" pitchFamily="18" charset="0"/>
            </a:endParaRPr>
          </a:p>
          <a:p>
            <a:pPr>
              <a:lnSpc>
                <a:spcPct val="120000"/>
              </a:lnSpc>
              <a:buFont typeface="Arial" panose="020B0604020202020204"/>
              <a:buChar char="•"/>
            </a:pPr>
            <a:r>
              <a:rPr sz="2000">
                <a:latin typeface="Times New Roman" panose="02020603050405020304" pitchFamily="18" charset="0"/>
                <a:cs typeface="Times New Roman" panose="02020603050405020304" pitchFamily="18" charset="0"/>
              </a:rPr>
              <a:t> Final (Accepting) state </a:t>
            </a:r>
            <a:endParaRPr sz="2000">
              <a:latin typeface="Times New Roman" panose="02020603050405020304" pitchFamily="18" charset="0"/>
              <a:cs typeface="Times New Roman" panose="02020603050405020304" pitchFamily="18" charset="0"/>
            </a:endParaRPr>
          </a:p>
          <a:p>
            <a:pPr>
              <a:lnSpc>
                <a:spcPct val="120000"/>
              </a:lnSpc>
              <a:spcAft>
                <a:spcPct val="60000"/>
              </a:spcAft>
            </a:pPr>
            <a:endParaRPr sz="2000">
              <a:latin typeface="Times New Roman" panose="02020603050405020304" pitchFamily="18" charset="0"/>
              <a:cs typeface="Times New Roman" panose="02020603050405020304" pitchFamily="18" charset="0"/>
            </a:endParaRPr>
          </a:p>
        </p:txBody>
      </p:sp>
      <p:sp>
        <p:nvSpPr>
          <p:cNvPr id="11" name="Text Box 10"/>
          <p:cNvSpPr txBox="1"/>
          <p:nvPr/>
        </p:nvSpPr>
        <p:spPr>
          <a:xfrm>
            <a:off x="7228840" y="1889760"/>
            <a:ext cx="4003040" cy="3078480"/>
          </a:xfrm>
          <a:prstGeom prst="rect">
            <a:avLst/>
          </a:prstGeom>
          <a:noFill/>
        </p:spPr>
        <p:txBody>
          <a:bodyPr wrap="square" rtlCol="0" anchor="t">
            <a:noAutofit/>
          </a:bodyPr>
          <a:p>
            <a:pPr>
              <a:spcAft>
                <a:spcPct val="60000"/>
              </a:spcAft>
            </a:pPr>
            <a:r>
              <a:rPr sz="2000" b="1">
                <a:latin typeface="Times New Roman" panose="02020603050405020304" pitchFamily="18" charset="0"/>
                <a:cs typeface="Times New Roman" panose="02020603050405020304" pitchFamily="18" charset="0"/>
                <a:sym typeface="+mn-ea"/>
              </a:rPr>
              <a:t>Example</a:t>
            </a:r>
            <a:endParaRPr sz="2000" b="1">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Input: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Cats</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State 1 → Read "Cat"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State 2 → Read "s"</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a:t>
            </a:r>
            <a:endParaRPr sz="2000">
              <a:latin typeface="Times New Roman" panose="02020603050405020304" pitchFamily="18" charset="0"/>
              <a:cs typeface="Times New Roman" panose="02020603050405020304" pitchFamily="18" charset="0"/>
            </a:endParaRPr>
          </a:p>
          <a:p>
            <a:r>
              <a:rPr sz="2000">
                <a:latin typeface="Times New Roman" panose="02020603050405020304" pitchFamily="18" charset="0"/>
                <a:cs typeface="Times New Roman" panose="02020603050405020304" pitchFamily="18" charset="0"/>
                <a:sym typeface="+mn-ea"/>
              </a:rPr>
              <a:t>Accepted</a:t>
            </a:r>
            <a:endParaRPr sz="2000">
              <a:latin typeface="Times New Roman" panose="02020603050405020304" pitchFamily="18" charset="0"/>
              <a:cs typeface="Times New Roman" panose="02020603050405020304" pitchFamily="18" charset="0"/>
              <a:sym typeface="+mn-ea"/>
            </a:endParaRPr>
          </a:p>
          <a:p>
            <a:endParaRPr sz="200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pPr>
            <a:r>
              <a:rPr sz="2000">
                <a:latin typeface="Times New Roman" panose="02020603050405020304" pitchFamily="18" charset="0"/>
                <a:cs typeface="Times New Roman" panose="02020603050405020304" pitchFamily="18" charset="0"/>
                <a:sym typeface="+mn-ea"/>
              </a:rPr>
              <a:t>Finite-State Machines are fast, simple, and efficient for recognizing word patterns.</a:t>
            </a:r>
            <a:endParaRPr lang="en-GB"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
        <p:nvSpPr>
          <p:cNvPr id="7" name="Text Box 6"/>
          <p:cNvSpPr txBox="1"/>
          <p:nvPr/>
        </p:nvSpPr>
        <p:spPr>
          <a:xfrm>
            <a:off x="2926080" y="683260"/>
            <a:ext cx="6593840" cy="706755"/>
          </a:xfrm>
          <a:prstGeom prst="rect">
            <a:avLst/>
          </a:prstGeom>
        </p:spPr>
        <p:txBody>
          <a:bodyPr wrap="square">
            <a:spAutoFit/>
          </a:bodyPr>
          <a:p>
            <a:r>
              <a:rPr lang="en-IN" sz="4000">
                <a:latin typeface="Times New Roman" panose="02020603050405020304" pitchFamily="18" charset="0"/>
                <a:cs typeface="Times New Roman" panose="02020603050405020304" pitchFamily="18" charset="0"/>
              </a:rPr>
              <a:t>  </a:t>
            </a:r>
            <a:r>
              <a:rPr sz="4000">
                <a:latin typeface="Times New Roman" panose="02020603050405020304" pitchFamily="18" charset="0"/>
                <a:cs typeface="Times New Roman" panose="02020603050405020304" pitchFamily="18" charset="0"/>
              </a:rPr>
              <a:t>Finite-State Automata (FSA)</a:t>
            </a:r>
            <a:endParaRPr sz="4000">
              <a:latin typeface="Times New Roman" panose="02020603050405020304" pitchFamily="18" charset="0"/>
              <a:cs typeface="Times New Roman" panose="02020603050405020304" pitchFamily="18" charset="0"/>
            </a:endParaRPr>
          </a:p>
        </p:txBody>
      </p:sp>
      <p:sp>
        <p:nvSpPr>
          <p:cNvPr id="8" name="Text Box 7"/>
          <p:cNvSpPr txBox="1"/>
          <p:nvPr/>
        </p:nvSpPr>
        <p:spPr>
          <a:xfrm>
            <a:off x="782320" y="1649095"/>
            <a:ext cx="6085840" cy="4919980"/>
          </a:xfrm>
          <a:prstGeom prst="rect">
            <a:avLst/>
          </a:prstGeom>
        </p:spPr>
        <p:txBody>
          <a:bodyPr>
            <a:noAutofit/>
          </a:bodyPr>
          <a:p>
            <a:pPr>
              <a:lnSpc>
                <a:spcPct val="130000"/>
              </a:lnSpc>
              <a:spcAft>
                <a:spcPct val="60000"/>
              </a:spcAft>
            </a:pPr>
            <a:r>
              <a:rPr sz="2000" b="1">
                <a:latin typeface="Times New Roman" panose="02020603050405020304" pitchFamily="18" charset="0"/>
                <a:cs typeface="Times New Roman" panose="02020603050405020304" pitchFamily="18" charset="0"/>
              </a:rPr>
              <a:t>Finite-State Automata</a:t>
            </a:r>
            <a:endParaRPr sz="2000" b="1">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Finite-State Automata recognize valid word structures using transitions between states.</a:t>
            </a:r>
            <a:endParaRPr sz="2000">
              <a:latin typeface="Times New Roman" panose="02020603050405020304" pitchFamily="18" charset="0"/>
              <a:cs typeface="Times New Roman" panose="02020603050405020304" pitchFamily="18" charset="0"/>
            </a:endParaRPr>
          </a:p>
          <a:p>
            <a:pPr>
              <a:lnSpc>
                <a:spcPct val="130000"/>
              </a:lnSpc>
              <a:spcAft>
                <a:spcPct val="60000"/>
              </a:spcAft>
            </a:pPr>
            <a:r>
              <a:rPr sz="2000" b="1">
                <a:latin typeface="Times New Roman" panose="02020603050405020304" pitchFamily="18" charset="0"/>
                <a:cs typeface="Times New Roman" panose="02020603050405020304" pitchFamily="18" charset="0"/>
              </a:rPr>
              <a:t>Working Process</a:t>
            </a:r>
            <a:endParaRPr sz="2000" b="1">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Input Word</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Read one character at a time</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Move to next state</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Accept or Reject</a:t>
            </a:r>
            <a:endParaRPr sz="2000">
              <a:latin typeface="Times New Roman" panose="02020603050405020304" pitchFamily="18" charset="0"/>
              <a:cs typeface="Times New Roman" panose="02020603050405020304" pitchFamily="18" charset="0"/>
            </a:endParaRPr>
          </a:p>
          <a:p>
            <a:pPr>
              <a:lnSpc>
                <a:spcPct val="130000"/>
              </a:lnSpc>
              <a:spcAft>
                <a:spcPct val="60000"/>
              </a:spcAft>
            </a:pPr>
            <a:endParaRPr sz="2000">
              <a:latin typeface="Times New Roman" panose="02020603050405020304" pitchFamily="18" charset="0"/>
              <a:cs typeface="Times New Roman" panose="02020603050405020304" pitchFamily="18" charset="0"/>
            </a:endParaRPr>
          </a:p>
        </p:txBody>
      </p:sp>
      <p:sp>
        <p:nvSpPr>
          <p:cNvPr id="9" name="Text Box 8"/>
          <p:cNvSpPr txBox="1"/>
          <p:nvPr/>
        </p:nvSpPr>
        <p:spPr>
          <a:xfrm>
            <a:off x="7264400" y="2512060"/>
            <a:ext cx="3495040" cy="2449830"/>
          </a:xfrm>
          <a:prstGeom prst="rect">
            <a:avLst/>
          </a:prstGeom>
          <a:noFill/>
        </p:spPr>
        <p:txBody>
          <a:bodyPr wrap="square" rtlCol="0" anchor="t">
            <a:spAutoFit/>
          </a:bodyPr>
          <a:p>
            <a:pPr>
              <a:lnSpc>
                <a:spcPct val="140000"/>
              </a:lnSpc>
              <a:spcAft>
                <a:spcPct val="60000"/>
              </a:spcAft>
            </a:pPr>
            <a:r>
              <a:rPr sz="2000" b="1">
                <a:latin typeface="Times New Roman" panose="02020603050405020304" pitchFamily="18" charset="0"/>
                <a:cs typeface="Times New Roman" panose="02020603050405020304" pitchFamily="18" charset="0"/>
                <a:sym typeface="+mn-ea"/>
              </a:rPr>
              <a:t>Advantages</a:t>
            </a:r>
            <a:endParaRPr sz="2000" b="1">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 Fast processing </a:t>
            </a:r>
            <a:endParaRPr sz="2000">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 Low memory usage </a:t>
            </a:r>
            <a:endParaRPr sz="2000">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 Easy implementation </a:t>
            </a:r>
            <a:endParaRPr sz="2000">
              <a:latin typeface="Times New Roman" panose="02020603050405020304" pitchFamily="18" charset="0"/>
              <a:cs typeface="Times New Roman" panose="02020603050405020304" pitchFamily="18" charset="0"/>
            </a:endParaRPr>
          </a:p>
          <a:p>
            <a:pPr>
              <a:lnSpc>
                <a:spcPct val="140000"/>
              </a:lnSpc>
              <a:buFont typeface="Arial" panose="020B0604020202020204"/>
              <a:buChar char="•"/>
            </a:pPr>
            <a:r>
              <a:rPr sz="2000">
                <a:latin typeface="Times New Roman" panose="02020603050405020304" pitchFamily="18" charset="0"/>
                <a:cs typeface="Times New Roman" panose="02020603050405020304" pitchFamily="18" charset="0"/>
                <a:sym typeface="+mn-ea"/>
              </a:rPr>
              <a:t> Suitable for lexical analysis</a:t>
            </a:r>
            <a:endParaRPr lang="en-GB"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
        <p:nvSpPr>
          <p:cNvPr id="7" name="Text Box 6"/>
          <p:cNvSpPr txBox="1"/>
          <p:nvPr/>
        </p:nvSpPr>
        <p:spPr>
          <a:xfrm>
            <a:off x="3023235" y="498475"/>
            <a:ext cx="6146165" cy="706755"/>
          </a:xfrm>
          <a:prstGeom prst="rect">
            <a:avLst/>
          </a:prstGeom>
        </p:spPr>
        <p:txBody>
          <a:bodyPr wrap="square">
            <a:spAutoFit/>
          </a:bodyPr>
          <a:p>
            <a:r>
              <a:rPr sz="4000">
                <a:latin typeface="Times New Roman" panose="02020603050405020304" pitchFamily="18" charset="0"/>
                <a:cs typeface="Times New Roman" panose="02020603050405020304" pitchFamily="18" charset="0"/>
              </a:rPr>
              <a:t>Finite-State Transducer (FST)</a:t>
            </a:r>
            <a:endParaRPr sz="4000">
              <a:latin typeface="Times New Roman" panose="02020603050405020304" pitchFamily="18" charset="0"/>
              <a:cs typeface="Times New Roman" panose="02020603050405020304" pitchFamily="18" charset="0"/>
            </a:endParaRPr>
          </a:p>
        </p:txBody>
      </p:sp>
      <p:sp>
        <p:nvSpPr>
          <p:cNvPr id="8" name="Text Box 7"/>
          <p:cNvSpPr txBox="1"/>
          <p:nvPr/>
        </p:nvSpPr>
        <p:spPr>
          <a:xfrm>
            <a:off x="600075" y="1786890"/>
            <a:ext cx="6856730" cy="4755515"/>
          </a:xfrm>
          <a:prstGeom prst="rect">
            <a:avLst/>
          </a:prstGeom>
        </p:spPr>
        <p:txBody>
          <a:bodyPr>
            <a:noAutofit/>
          </a:bodyPr>
          <a:p>
            <a:pPr>
              <a:lnSpc>
                <a:spcPct val="160000"/>
              </a:lnSpc>
              <a:spcAft>
                <a:spcPct val="60000"/>
              </a:spcAft>
            </a:pPr>
            <a:r>
              <a:rPr sz="2000" b="1">
                <a:latin typeface="Times New Roman" panose="02020603050405020304" pitchFamily="18" charset="0"/>
                <a:cs typeface="Times New Roman" panose="02020603050405020304" pitchFamily="18" charset="0"/>
              </a:rPr>
              <a:t>Finite-State Transducer</a:t>
            </a:r>
            <a:endParaRPr sz="2000" b="1">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A Finite-State Transducer extends an automaton by producing output while reading input.</a:t>
            </a:r>
            <a:endParaRPr sz="2000">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It converts one string into another.</a:t>
            </a:r>
            <a:endParaRPr sz="2000">
              <a:latin typeface="Times New Roman" panose="02020603050405020304" pitchFamily="18" charset="0"/>
              <a:cs typeface="Times New Roman" panose="02020603050405020304" pitchFamily="18" charset="0"/>
            </a:endParaRPr>
          </a:p>
          <a:p>
            <a:pPr>
              <a:lnSpc>
                <a:spcPct val="160000"/>
              </a:lnSpc>
              <a:spcAft>
                <a:spcPct val="60000"/>
              </a:spcAft>
            </a:pPr>
            <a:r>
              <a:rPr sz="2000" b="1">
                <a:latin typeface="Times New Roman" panose="02020603050405020304" pitchFamily="18" charset="0"/>
                <a:cs typeface="Times New Roman" panose="02020603050405020304" pitchFamily="18" charset="0"/>
              </a:rPr>
              <a:t>Example</a:t>
            </a:r>
            <a:endParaRPr sz="2000" b="1">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Input</a:t>
            </a:r>
            <a:r>
              <a:rPr lang="en-IN" sz="2000">
                <a:latin typeface="Times New Roman" panose="02020603050405020304" pitchFamily="18" charset="0"/>
                <a:cs typeface="Times New Roman" panose="02020603050405020304" pitchFamily="18" charset="0"/>
              </a:rPr>
              <a:t> : </a:t>
            </a:r>
            <a:r>
              <a:rPr sz="2000">
                <a:latin typeface="Times New Roman" panose="02020603050405020304" pitchFamily="18" charset="0"/>
                <a:cs typeface="Times New Roman" panose="02020603050405020304" pitchFamily="18" charset="0"/>
              </a:rPr>
              <a:t>playing</a:t>
            </a:r>
            <a:endParaRPr sz="2000">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Output</a:t>
            </a:r>
            <a:r>
              <a:rPr lang="en-IN" sz="2000">
                <a:latin typeface="Times New Roman" panose="02020603050405020304" pitchFamily="18" charset="0"/>
                <a:cs typeface="Times New Roman" panose="02020603050405020304" pitchFamily="18" charset="0"/>
              </a:rPr>
              <a:t> : </a:t>
            </a:r>
            <a:r>
              <a:rPr sz="2000">
                <a:latin typeface="Times New Roman" panose="02020603050405020304" pitchFamily="18" charset="0"/>
                <a:cs typeface="Times New Roman" panose="02020603050405020304" pitchFamily="18" charset="0"/>
              </a:rPr>
              <a:t>play + Verb + ing</a:t>
            </a:r>
            <a:endParaRPr sz="2000">
              <a:latin typeface="Times New Roman" panose="02020603050405020304" pitchFamily="18" charset="0"/>
              <a:cs typeface="Times New Roman" panose="02020603050405020304" pitchFamily="18" charset="0"/>
            </a:endParaRPr>
          </a:p>
          <a:p>
            <a:pPr>
              <a:lnSpc>
                <a:spcPct val="160000"/>
              </a:lnSpc>
              <a:spcAft>
                <a:spcPct val="60000"/>
              </a:spcAft>
            </a:pPr>
            <a:endParaRPr sz="2000">
              <a:latin typeface="Times New Roman" panose="02020603050405020304" pitchFamily="18" charset="0"/>
              <a:cs typeface="Times New Roman" panose="02020603050405020304" pitchFamily="18" charset="0"/>
            </a:endParaRPr>
          </a:p>
        </p:txBody>
      </p:sp>
      <p:sp>
        <p:nvSpPr>
          <p:cNvPr id="9" name="Text Box 8"/>
          <p:cNvSpPr txBox="1"/>
          <p:nvPr/>
        </p:nvSpPr>
        <p:spPr>
          <a:xfrm>
            <a:off x="8208645" y="2646680"/>
            <a:ext cx="3038475" cy="2601595"/>
          </a:xfrm>
          <a:prstGeom prst="rect">
            <a:avLst/>
          </a:prstGeom>
          <a:noFill/>
        </p:spPr>
        <p:txBody>
          <a:bodyPr wrap="square" rtlCol="0" anchor="t">
            <a:noAutofit/>
          </a:bodyPr>
          <a:p>
            <a:pPr>
              <a:lnSpc>
                <a:spcPct val="150000"/>
              </a:lnSpc>
              <a:spcAft>
                <a:spcPct val="60000"/>
              </a:spcAft>
            </a:pPr>
            <a:r>
              <a:rPr sz="2000" b="1">
                <a:latin typeface="Times New Roman" panose="02020603050405020304" pitchFamily="18" charset="0"/>
                <a:cs typeface="Times New Roman" panose="02020603050405020304" pitchFamily="18" charset="0"/>
                <a:sym typeface="+mn-ea"/>
              </a:rPr>
              <a:t>Applications</a:t>
            </a:r>
            <a:endParaRPr sz="2000" b="1">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sym typeface="+mn-ea"/>
              </a:rPr>
              <a:t> Lemmatization </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sym typeface="+mn-ea"/>
              </a:rPr>
              <a:t> Stemming </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sym typeface="+mn-ea"/>
              </a:rPr>
              <a:t> Morphological Analysis </a:t>
            </a:r>
            <a:endParaRPr sz="2000">
              <a:latin typeface="Times New Roman" panose="02020603050405020304" pitchFamily="18" charset="0"/>
              <a:cs typeface="Times New Roman" panose="02020603050405020304" pitchFamily="18" charset="0"/>
            </a:endParaRPr>
          </a:p>
          <a:p>
            <a:pPr>
              <a:lnSpc>
                <a:spcPct val="150000"/>
              </a:lnSpc>
              <a:buFont typeface="Arial" panose="020B0604020202020204"/>
              <a:buChar char="•"/>
            </a:pPr>
            <a:r>
              <a:rPr sz="2000">
                <a:latin typeface="Times New Roman" panose="02020603050405020304" pitchFamily="18" charset="0"/>
                <a:cs typeface="Times New Roman" panose="02020603050405020304" pitchFamily="18" charset="0"/>
                <a:sym typeface="+mn-ea"/>
              </a:rPr>
              <a:t> Word Generation </a:t>
            </a:r>
            <a:endParaRPr lang="en-GB"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2" name="Slide Number Placeholder 1"/>
          <p:cNvSpPr>
            <a:spLocks noGrp="1"/>
          </p:cNvSpPr>
          <p:nvPr>
            <p:ph type="sldNum" sz="quarter" idx="12"/>
          </p:nvPr>
        </p:nvSpPr>
        <p:spPr/>
        <p:txBody>
          <a:bodyPr/>
          <a:lstStyle/>
          <a:p>
            <a:fld id="{A94201F5-6537-4A0A-8CB8-60BD59C4BF21}" type="slidenum">
              <a:rPr lang="en-IN" smtClean="0"/>
            </a:fld>
            <a:endParaRPr lang="en-IN"/>
          </a:p>
        </p:txBody>
      </p:sp>
      <p:sp>
        <p:nvSpPr>
          <p:cNvPr id="7" name="Text Box 6"/>
          <p:cNvSpPr txBox="1"/>
          <p:nvPr/>
        </p:nvSpPr>
        <p:spPr>
          <a:xfrm>
            <a:off x="2815590" y="498475"/>
            <a:ext cx="6561455" cy="706755"/>
          </a:xfrm>
          <a:prstGeom prst="rect">
            <a:avLst/>
          </a:prstGeom>
        </p:spPr>
        <p:txBody>
          <a:bodyPr wrap="square">
            <a:spAutoFit/>
          </a:bodyPr>
          <a:p>
            <a:r>
              <a:rPr sz="4000">
                <a:latin typeface="Times New Roman" panose="02020603050405020304" pitchFamily="18" charset="0"/>
                <a:cs typeface="Times New Roman" panose="02020603050405020304" pitchFamily="18" charset="0"/>
              </a:rPr>
              <a:t>Morphological Parsing Process</a:t>
            </a:r>
            <a:endParaRPr sz="400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579755" y="1927225"/>
            <a:ext cx="11198860" cy="417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A94201F5-6537-4A0A-8CB8-60BD59C4BF21}" type="slidenum">
              <a:rPr lang="en-IN" smtClean="0"/>
            </a:fld>
            <a:endParaRPr lang="en-IN"/>
          </a:p>
        </p:txBody>
      </p:sp>
      <p:sp>
        <p:nvSpPr>
          <p:cNvPr id="3" name="Text Box 2"/>
          <p:cNvSpPr txBox="1"/>
          <p:nvPr/>
        </p:nvSpPr>
        <p:spPr>
          <a:xfrm>
            <a:off x="3129280" y="446405"/>
            <a:ext cx="6216650" cy="706755"/>
          </a:xfrm>
          <a:prstGeom prst="rect">
            <a:avLst/>
          </a:prstGeom>
        </p:spPr>
        <p:txBody>
          <a:bodyPr wrap="square">
            <a:spAutoFit/>
          </a:bodyPr>
          <a:p>
            <a:r>
              <a:rPr sz="4000">
                <a:latin typeface="Times New Roman" panose="02020603050405020304" pitchFamily="18" charset="0"/>
                <a:cs typeface="Times New Roman" panose="02020603050405020304" pitchFamily="18" charset="0"/>
              </a:rPr>
              <a:t>Advantages and Limitations</a:t>
            </a:r>
            <a:endParaRPr sz="4000">
              <a:latin typeface="Times New Roman" panose="02020603050405020304" pitchFamily="18" charset="0"/>
              <a:cs typeface="Times New Roman" panose="02020603050405020304" pitchFamily="18" charset="0"/>
            </a:endParaRPr>
          </a:p>
        </p:txBody>
      </p:sp>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5" name="Text Box 4"/>
          <p:cNvSpPr txBox="1"/>
          <p:nvPr/>
        </p:nvSpPr>
        <p:spPr>
          <a:xfrm>
            <a:off x="1295400" y="2136140"/>
            <a:ext cx="4545965" cy="3249930"/>
          </a:xfrm>
          <a:prstGeom prst="rect">
            <a:avLst/>
          </a:prstGeom>
        </p:spPr>
        <p:txBody>
          <a:bodyPr wrap="square">
            <a:spAutoFit/>
          </a:bodyPr>
          <a:p>
            <a:pPr>
              <a:lnSpc>
                <a:spcPct val="160000"/>
              </a:lnSpc>
              <a:spcAft>
                <a:spcPct val="60000"/>
              </a:spcAft>
            </a:pPr>
            <a:r>
              <a:rPr sz="2000" b="1">
                <a:latin typeface="Times New Roman" panose="02020603050405020304" pitchFamily="18" charset="0"/>
                <a:cs typeface="Times New Roman" panose="02020603050405020304" pitchFamily="18" charset="0"/>
              </a:rPr>
              <a:t>Advantages</a:t>
            </a:r>
            <a:endParaRPr sz="2000" b="1">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 High processing speed</a:t>
            </a:r>
            <a:endParaRPr sz="2000">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 Efficient memory usage</a:t>
            </a:r>
            <a:endParaRPr sz="2000">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 Accurate for regular word patterns</a:t>
            </a:r>
            <a:endParaRPr sz="2000">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 Easy to implement</a:t>
            </a:r>
            <a:endParaRPr sz="2000">
              <a:latin typeface="Times New Roman" panose="02020603050405020304" pitchFamily="18" charset="0"/>
              <a:cs typeface="Times New Roman" panose="02020603050405020304" pitchFamily="18" charset="0"/>
            </a:endParaRPr>
          </a:p>
          <a:p>
            <a:pPr>
              <a:lnSpc>
                <a:spcPct val="160000"/>
              </a:lnSpc>
            </a:pPr>
            <a:r>
              <a:rPr sz="2000">
                <a:latin typeface="Times New Roman" panose="02020603050405020304" pitchFamily="18" charset="0"/>
                <a:cs typeface="Times New Roman" panose="02020603050405020304" pitchFamily="18" charset="0"/>
              </a:rPr>
              <a:t>✔ Widely used in NLP systems</a:t>
            </a:r>
            <a:endParaRPr sz="2000">
              <a:latin typeface="Times New Roman" panose="02020603050405020304" pitchFamily="18" charset="0"/>
              <a:cs typeface="Times New Roman" panose="02020603050405020304" pitchFamily="18" charset="0"/>
            </a:endParaRPr>
          </a:p>
        </p:txBody>
      </p:sp>
      <p:sp>
        <p:nvSpPr>
          <p:cNvPr id="7" name="Text Box 6"/>
          <p:cNvSpPr txBox="1"/>
          <p:nvPr/>
        </p:nvSpPr>
        <p:spPr>
          <a:xfrm>
            <a:off x="6202680" y="2136140"/>
            <a:ext cx="5080000" cy="2911475"/>
          </a:xfrm>
          <a:prstGeom prst="rect">
            <a:avLst/>
          </a:prstGeom>
        </p:spPr>
        <p:txBody>
          <a:bodyPr>
            <a:spAutoFit/>
          </a:bodyPr>
          <a:p>
            <a:pPr>
              <a:lnSpc>
                <a:spcPct val="170000"/>
              </a:lnSpc>
              <a:spcAft>
                <a:spcPct val="60000"/>
              </a:spcAft>
            </a:pPr>
            <a:r>
              <a:rPr sz="2000" b="1">
                <a:latin typeface="Times New Roman" panose="02020603050405020304" pitchFamily="18" charset="0"/>
                <a:cs typeface="Times New Roman" panose="02020603050405020304" pitchFamily="18" charset="0"/>
              </a:rPr>
              <a:t>Limitations</a:t>
            </a:r>
            <a:endParaRPr sz="2000" b="1">
              <a:latin typeface="Times New Roman" panose="02020603050405020304" pitchFamily="18" charset="0"/>
              <a:cs typeface="Times New Roman" panose="02020603050405020304" pitchFamily="18" charset="0"/>
            </a:endParaRPr>
          </a:p>
          <a:p>
            <a:pPr>
              <a:lnSpc>
                <a:spcPct val="170000"/>
              </a:lnSpc>
            </a:pPr>
            <a:r>
              <a:rPr sz="2000">
                <a:latin typeface="Times New Roman" panose="02020603050405020304" pitchFamily="18" charset="0"/>
                <a:cs typeface="Times New Roman" panose="02020603050405020304" pitchFamily="18" charset="0"/>
              </a:rPr>
              <a:t>✖ Difficult to handle irregular words</a:t>
            </a:r>
            <a:endParaRPr sz="2000">
              <a:latin typeface="Times New Roman" panose="02020603050405020304" pitchFamily="18" charset="0"/>
              <a:cs typeface="Times New Roman" panose="02020603050405020304" pitchFamily="18" charset="0"/>
            </a:endParaRPr>
          </a:p>
          <a:p>
            <a:pPr>
              <a:lnSpc>
                <a:spcPct val="170000"/>
              </a:lnSpc>
            </a:pPr>
            <a:r>
              <a:rPr sz="2000">
                <a:latin typeface="Times New Roman" panose="02020603050405020304" pitchFamily="18" charset="0"/>
                <a:cs typeface="Times New Roman" panose="02020603050405020304" pitchFamily="18" charset="0"/>
              </a:rPr>
              <a:t>✖ Limited semantic understanding</a:t>
            </a:r>
            <a:endParaRPr sz="2000">
              <a:latin typeface="Times New Roman" panose="02020603050405020304" pitchFamily="18" charset="0"/>
              <a:cs typeface="Times New Roman" panose="02020603050405020304" pitchFamily="18" charset="0"/>
            </a:endParaRPr>
          </a:p>
          <a:p>
            <a:pPr>
              <a:lnSpc>
                <a:spcPct val="170000"/>
              </a:lnSpc>
            </a:pPr>
            <a:r>
              <a:rPr sz="2000">
                <a:latin typeface="Times New Roman" panose="02020603050405020304" pitchFamily="18" charset="0"/>
                <a:cs typeface="Times New Roman" panose="02020603050405020304" pitchFamily="18" charset="0"/>
              </a:rPr>
              <a:t>✖ Language-specific rules required</a:t>
            </a:r>
            <a:endParaRPr sz="2000">
              <a:latin typeface="Times New Roman" panose="02020603050405020304" pitchFamily="18" charset="0"/>
              <a:cs typeface="Times New Roman" panose="02020603050405020304" pitchFamily="18" charset="0"/>
            </a:endParaRPr>
          </a:p>
          <a:p>
            <a:pPr>
              <a:lnSpc>
                <a:spcPct val="170000"/>
              </a:lnSpc>
            </a:pPr>
            <a:r>
              <a:rPr sz="2000">
                <a:latin typeface="Times New Roman" panose="02020603050405020304" pitchFamily="18" charset="0"/>
                <a:cs typeface="Times New Roman" panose="02020603050405020304" pitchFamily="18" charset="0"/>
              </a:rPr>
              <a:t>✖ Complex grammar increases automata siz</a:t>
            </a:r>
            <a:r>
              <a:rPr sz="1600">
                <a:latin typeface="Times New Roman" panose="02020603050405020304" pitchFamily="18" charset="0"/>
                <a:cs typeface="Times New Roman" panose="02020603050405020304" pitchFamily="18" charset="0"/>
              </a:rPr>
              <a:t>e</a:t>
            </a:r>
            <a:endParaRPr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A94201F5-6537-4A0A-8CB8-60BD59C4BF21}" type="slidenum">
              <a:rPr lang="en-IN" smtClean="0"/>
            </a:fld>
            <a:endParaRPr lang="en-IN"/>
          </a:p>
        </p:txBody>
      </p:sp>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5" name="Text Box 4"/>
          <p:cNvSpPr txBox="1"/>
          <p:nvPr/>
        </p:nvSpPr>
        <p:spPr>
          <a:xfrm>
            <a:off x="3530600" y="568008"/>
            <a:ext cx="5080000" cy="706755"/>
          </a:xfrm>
          <a:prstGeom prst="rect">
            <a:avLst/>
          </a:prstGeom>
        </p:spPr>
        <p:txBody>
          <a:bodyPr>
            <a:spAutoFit/>
          </a:bodyPr>
          <a:p>
            <a:r>
              <a:rPr lang="en-IN" sz="4000">
                <a:latin typeface="Times New Roman" panose="02020603050405020304" pitchFamily="18" charset="0"/>
                <a:cs typeface="Times New Roman" panose="02020603050405020304" pitchFamily="18" charset="0"/>
              </a:rPr>
              <a:t>       </a:t>
            </a:r>
            <a:r>
              <a:rPr sz="4000">
                <a:latin typeface="Times New Roman" panose="02020603050405020304" pitchFamily="18" charset="0"/>
                <a:cs typeface="Times New Roman" panose="02020603050405020304" pitchFamily="18" charset="0"/>
              </a:rPr>
              <a:t>Applications</a:t>
            </a:r>
            <a:endParaRPr sz="4000">
              <a:latin typeface="Times New Roman" panose="02020603050405020304" pitchFamily="18" charset="0"/>
              <a:cs typeface="Times New Roman" panose="02020603050405020304" pitchFamily="18" charset="0"/>
            </a:endParaRPr>
          </a:p>
        </p:txBody>
      </p:sp>
      <p:sp>
        <p:nvSpPr>
          <p:cNvPr id="7" name="Text Box 6"/>
          <p:cNvSpPr txBox="1"/>
          <p:nvPr/>
        </p:nvSpPr>
        <p:spPr>
          <a:xfrm>
            <a:off x="1290320" y="1639252"/>
            <a:ext cx="5080000" cy="4717415"/>
          </a:xfrm>
          <a:prstGeom prst="rect">
            <a:avLst/>
          </a:prstGeom>
        </p:spPr>
        <p:txBody>
          <a:bodyPr>
            <a:spAutoFit/>
          </a:bodyPr>
          <a:p>
            <a:pPr>
              <a:lnSpc>
                <a:spcPct val="130000"/>
              </a:lnSpc>
              <a:spcAft>
                <a:spcPct val="60000"/>
              </a:spcAft>
            </a:pPr>
            <a:r>
              <a:rPr sz="2000" b="1"/>
              <a:t>R</a:t>
            </a:r>
            <a:r>
              <a:rPr sz="2000" b="1">
                <a:latin typeface="Times New Roman" panose="02020603050405020304" pitchFamily="18" charset="0"/>
                <a:cs typeface="Times New Roman" panose="02020603050405020304" pitchFamily="18" charset="0"/>
              </a:rPr>
              <a:t>eal-World Applications</a:t>
            </a:r>
            <a:endParaRPr sz="2000" b="1">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Finite-State Morphological Parsing is used in:</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Google Translate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Grammarly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Voice Assistants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OCR Systems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Search Engines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ChatGPT and AI Assistants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Text-to-Speech Systems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Speech Recognition </a:t>
            </a:r>
            <a:endParaRPr sz="2000">
              <a:latin typeface="Times New Roman" panose="02020603050405020304" pitchFamily="18" charset="0"/>
              <a:cs typeface="Times New Roman" panose="02020603050405020304" pitchFamily="18" charset="0"/>
            </a:endParaRPr>
          </a:p>
          <a:p>
            <a:pPr>
              <a:lnSpc>
                <a:spcPct val="130000"/>
              </a:lnSpc>
              <a:buFont typeface="Arial" panose="020B0604020202020204"/>
              <a:buChar char="•"/>
            </a:pPr>
            <a:r>
              <a:rPr sz="2000">
                <a:latin typeface="Times New Roman" panose="02020603050405020304" pitchFamily="18" charset="0"/>
                <a:cs typeface="Times New Roman" panose="02020603050405020304" pitchFamily="18" charset="0"/>
              </a:rPr>
              <a:t> Spell Checkers</a:t>
            </a:r>
            <a:endParaRPr sz="2000">
              <a:latin typeface="Times New Roman" panose="02020603050405020304" pitchFamily="18" charset="0"/>
              <a:cs typeface="Times New Roman" panose="02020603050405020304" pitchFamily="18" charset="0"/>
            </a:endParaRPr>
          </a:p>
        </p:txBody>
      </p:sp>
      <p:sp>
        <p:nvSpPr>
          <p:cNvPr id="8" name="Text Box 7"/>
          <p:cNvSpPr txBox="1"/>
          <p:nvPr/>
        </p:nvSpPr>
        <p:spPr>
          <a:xfrm>
            <a:off x="7233285" y="2889885"/>
            <a:ext cx="3465195" cy="2779395"/>
          </a:xfrm>
          <a:prstGeom prst="rect">
            <a:avLst/>
          </a:prstGeom>
        </p:spPr>
        <p:txBody>
          <a:bodyPr wrap="square">
            <a:spAutoFit/>
          </a:bodyPr>
          <a:p>
            <a:pPr>
              <a:lnSpc>
                <a:spcPct val="130000"/>
              </a:lnSpc>
              <a:spcAft>
                <a:spcPct val="60000"/>
              </a:spcAft>
            </a:pPr>
            <a:r>
              <a:rPr sz="2200" b="1"/>
              <a:t>E</a:t>
            </a:r>
            <a:r>
              <a:rPr sz="2000" b="1">
                <a:latin typeface="Times New Roman" panose="02020603050405020304" pitchFamily="18" charset="0"/>
                <a:cs typeface="Times New Roman" panose="02020603050405020304" pitchFamily="18" charset="0"/>
              </a:rPr>
              <a:t>xample</a:t>
            </a:r>
            <a:endParaRPr sz="2000" b="1">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Input:</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Running</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Output:</a:t>
            </a:r>
            <a:endParaRPr sz="2000">
              <a:latin typeface="Times New Roman" panose="02020603050405020304" pitchFamily="18" charset="0"/>
              <a:cs typeface="Times New Roman" panose="02020603050405020304" pitchFamily="18" charset="0"/>
            </a:endParaRPr>
          </a:p>
          <a:p>
            <a:pPr>
              <a:lnSpc>
                <a:spcPct val="130000"/>
              </a:lnSpc>
            </a:pPr>
            <a:r>
              <a:rPr sz="2000">
                <a:latin typeface="Times New Roman" panose="02020603050405020304" pitchFamily="18" charset="0"/>
                <a:cs typeface="Times New Roman" panose="02020603050405020304" pitchFamily="18" charset="0"/>
              </a:rPr>
              <a:t>Run + Verb + Present Participle</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A94201F5-6537-4A0A-8CB8-60BD59C4BF21}" type="slidenum">
              <a:rPr lang="en-IN" smtClean="0"/>
            </a:fld>
            <a:endParaRPr lang="en-IN"/>
          </a:p>
        </p:txBody>
      </p:sp>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5" name="Text Box 4"/>
          <p:cNvSpPr txBox="1"/>
          <p:nvPr/>
        </p:nvSpPr>
        <p:spPr>
          <a:xfrm>
            <a:off x="3698240" y="682943"/>
            <a:ext cx="5080000" cy="706755"/>
          </a:xfrm>
          <a:prstGeom prst="rect">
            <a:avLst/>
          </a:prstGeom>
        </p:spPr>
        <p:txBody>
          <a:bodyPr>
            <a:spAutoFit/>
          </a:bodyPr>
          <a:p>
            <a:r>
              <a:rPr lang="en-IN" sz="4000">
                <a:latin typeface="Times New Roman" panose="02020603050405020304" pitchFamily="18" charset="0"/>
                <a:cs typeface="Times New Roman" panose="02020603050405020304" pitchFamily="18" charset="0"/>
              </a:rPr>
              <a:t>        </a:t>
            </a:r>
            <a:r>
              <a:rPr sz="4000">
                <a:latin typeface="Times New Roman" panose="02020603050405020304" pitchFamily="18" charset="0"/>
                <a:cs typeface="Times New Roman" panose="02020603050405020304" pitchFamily="18" charset="0"/>
              </a:rPr>
              <a:t>Conclusion</a:t>
            </a:r>
            <a:endParaRPr sz="4000">
              <a:latin typeface="Times New Roman" panose="02020603050405020304" pitchFamily="18" charset="0"/>
              <a:cs typeface="Times New Roman" panose="02020603050405020304" pitchFamily="18" charset="0"/>
            </a:endParaRPr>
          </a:p>
        </p:txBody>
      </p:sp>
      <p:sp>
        <p:nvSpPr>
          <p:cNvPr id="7" name="Text Box 6"/>
          <p:cNvSpPr txBox="1"/>
          <p:nvPr/>
        </p:nvSpPr>
        <p:spPr>
          <a:xfrm>
            <a:off x="895350" y="1958340"/>
            <a:ext cx="10563860" cy="4544060"/>
          </a:xfrm>
          <a:prstGeom prst="rect">
            <a:avLst/>
          </a:prstGeom>
        </p:spPr>
        <p:txBody>
          <a:bodyPr wrap="square">
            <a:noAutofit/>
          </a:bodyPr>
          <a:p>
            <a:pPr>
              <a:lnSpc>
                <a:spcPct val="210000"/>
              </a:lnSpc>
            </a:pPr>
            <a:r>
              <a:rPr sz="2000">
                <a:latin typeface="Times New Roman" panose="02020603050405020304" pitchFamily="18" charset="0"/>
                <a:cs typeface="Times New Roman" panose="02020603050405020304" pitchFamily="18" charset="0"/>
              </a:rPr>
              <a:t>Finite-State Morphological Parsing is a fundamental technique in Natural Language Processing that efficiently analyzes the structure of words using Finite-State Automata and Finite-State Transducers.</a:t>
            </a:r>
            <a:endParaRPr sz="2000">
              <a:latin typeface="Times New Roman" panose="02020603050405020304" pitchFamily="18" charset="0"/>
              <a:cs typeface="Times New Roman" panose="02020603050405020304" pitchFamily="18" charset="0"/>
            </a:endParaRPr>
          </a:p>
          <a:p>
            <a:pPr>
              <a:lnSpc>
                <a:spcPct val="210000"/>
              </a:lnSpc>
            </a:pPr>
            <a:r>
              <a:rPr sz="2000">
                <a:latin typeface="Times New Roman" panose="02020603050405020304" pitchFamily="18" charset="0"/>
                <a:cs typeface="Times New Roman" panose="02020603050405020304" pitchFamily="18" charset="0"/>
              </a:rPr>
              <a:t>It provides fast and accurate morphological analysis, making it useful for applications such as machine translation, speech recognition, chatbots, search engines, and text processing. Although it has limitations with irregular word forms, it remains one of the most effective approaches for lexical and morphological analysis in modern NLP systems</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A94201F5-6537-4A0A-8CB8-60BD59C4BF21}" type="slidenum">
              <a:rPr lang="en-IN" smtClean="0"/>
            </a:fld>
            <a:endParaRPr lang="en-IN"/>
          </a:p>
        </p:txBody>
      </p:sp>
      <p:pic>
        <p:nvPicPr>
          <p:cNvPr id="4" name="Google Shape;161;p1"/>
          <p:cNvPicPr preferRelativeResize="0"/>
          <p:nvPr/>
        </p:nvPicPr>
        <p:blipFill rotWithShape="1">
          <a:blip r:embed="rId1"/>
          <a:srcRect/>
          <a:stretch>
            <a:fillRect/>
          </a:stretch>
        </p:blipFill>
        <p:spPr>
          <a:xfrm>
            <a:off x="414274" y="180524"/>
            <a:ext cx="1135380" cy="1343025"/>
          </a:xfrm>
          <a:prstGeom prst="rect">
            <a:avLst/>
          </a:prstGeom>
          <a:noFill/>
          <a:ln>
            <a:noFill/>
          </a:ln>
        </p:spPr>
      </p:pic>
      <p:pic>
        <p:nvPicPr>
          <p:cNvPr id="6" name="Google Shape;162;p1"/>
          <p:cNvPicPr preferRelativeResize="0"/>
          <p:nvPr/>
        </p:nvPicPr>
        <p:blipFill rotWithShape="1">
          <a:blip r:embed="rId2"/>
          <a:srcRect/>
          <a:stretch>
            <a:fillRect/>
          </a:stretch>
        </p:blipFill>
        <p:spPr>
          <a:xfrm>
            <a:off x="10257536" y="180523"/>
            <a:ext cx="1520190" cy="1343025"/>
          </a:xfrm>
          <a:prstGeom prst="rect">
            <a:avLst/>
          </a:prstGeom>
          <a:noFill/>
          <a:ln>
            <a:noFill/>
          </a:ln>
        </p:spPr>
      </p:pic>
      <p:sp>
        <p:nvSpPr>
          <p:cNvPr id="3" name="Text Box 2"/>
          <p:cNvSpPr txBox="1"/>
          <p:nvPr/>
        </p:nvSpPr>
        <p:spPr>
          <a:xfrm>
            <a:off x="2007235" y="2644775"/>
            <a:ext cx="7700645" cy="1568450"/>
          </a:xfrm>
          <a:prstGeom prst="rect">
            <a:avLst/>
          </a:prstGeom>
          <a:noFill/>
        </p:spPr>
        <p:txBody>
          <a:bodyPr wrap="square" rtlCol="0">
            <a:spAutoFit/>
          </a:bodyPr>
          <a:p>
            <a:r>
              <a:rPr lang="en-IN" altLang="en-GB" sz="9600">
                <a:latin typeface="Times New Roman" panose="02020603050405020304" pitchFamily="18" charset="0"/>
                <a:cs typeface="Times New Roman" panose="02020603050405020304" pitchFamily="18" charset="0"/>
              </a:rPr>
              <a:t>THANK YOU</a:t>
            </a:r>
            <a:endParaRPr lang="en-IN" altLang="en-GB" sz="960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3508</Words>
  <Application>WPS Presentation</Application>
  <PresentationFormat>Widescreen</PresentationFormat>
  <Paragraphs>176</Paragraphs>
  <Slides>11</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Times New Roman</vt:lpstr>
      <vt:lpstr>Times New Roman</vt:lpstr>
      <vt:lpstr>Calibri</vt:lpstr>
      <vt:lpstr>Microsoft YaHei</vt:lpstr>
      <vt:lpstr>Arial Unicode MS</vt:lpstr>
      <vt:lpstr>Calibri Light</vt:lpstr>
      <vt:lpstr>Arial</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SAHASRA MEDARAMETLA</dc:creator>
  <cp:lastModifiedBy>DUGGIRALA SRAVANTHI</cp:lastModifiedBy>
  <cp:revision>34</cp:revision>
  <dcterms:created xsi:type="dcterms:W3CDTF">2026-02-13T18:58:00Z</dcterms:created>
  <dcterms:modified xsi:type="dcterms:W3CDTF">2026-07-29T17:04:30Z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1A67991A92044098A38B4CD86FC7EAC5_12</vt:lpwstr>
  </property>
  <property fmtid="{D5CDD505-2E9C-101B-9397-08002B2CF9AE}" pid="3" name="KSOProductBuildVer">
    <vt:lpwstr>2057-12.2.0.23206</vt:lpwstr>
  </property>
</Properties>
</file>